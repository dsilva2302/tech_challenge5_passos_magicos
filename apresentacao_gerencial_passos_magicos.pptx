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vector_illustration_style_digital_concept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5852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1C1"/>
                </a:solidFill>
              </a:rPr>
              <a:t>DATATHON PASSOS MÁGICOS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58368" y="1234440"/>
            <a:ext cx="7498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preditivo e storytelling para prevenção de defasagem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85800" y="60533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9"/>
                </a:solidFill>
              </a:rPr>
              <a:t>Tech Challenge • Fase 05 • PósTech Data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738360" y="6053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AF2F9"/>
                </a:solidFill>
              </a:rPr>
              <a:t>Abril/2026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assroom_crop_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06440" y="0"/>
            <a:ext cx="1463040" cy="6858000"/>
          </a:xfrm>
          <a:prstGeom prst="rect">
            <a:avLst/>
          </a:prstGeom>
          <a:solidFill>
            <a:srgbClr val="F6F9FC">
              <a:alpha val="75000"/>
            </a:srgbClr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411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033"/>
                </a:solidFill>
              </a:rPr>
              <a:t>O desafio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12648" y="8778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Transformar dados educacionais em decisão preventiva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49377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42033"/>
                </a:solidFill>
              </a:rPr>
              <a:t>Mapear a evolução dos indicadores educacionais e psicossociais entre 2022 e 2024.
</a:t>
            </a:r>
            <a:pPr indent="0" marL="0">
              <a:buNone/>
            </a:pPr>
            <a:r>
              <a:rPr lang="en-US" sz="15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42033"/>
                </a:solidFill>
              </a:rPr>
              <a:t>Responder às 11 dores de negócio propostas no case Passos Mágicos.
</a:t>
            </a:r>
            <a:pPr indent="0" marL="0">
              <a:buNone/>
            </a:pPr>
            <a:r>
              <a:rPr lang="en-US" sz="15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42033"/>
                </a:solidFill>
              </a:rPr>
              <a:t>Criar um modelo que antecipe risco de defasagem, apoiando ações pedagógicas antes da queda se consolidar.
</a:t>
            </a:r>
            <a:pPr indent="0" marL="0">
              <a:buNone/>
            </a:pPr>
            <a:r>
              <a:rPr lang="en-US" sz="15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42033"/>
                </a:solidFill>
              </a:rPr>
              <a:t>Disponibilizar a solução em Streamlit para uso operacional pela equipe.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4910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1C1"/>
                </a:solidFill>
              </a:rPr>
              <a:t>Mensagem executiva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523036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</a:rPr>
              <a:t>Os dados mostram melhora consistente de adequação ao nível, mas o risco ainda exige triagem ativa e acompanhamento multidimensional.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análise foi construída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D1"/>
                </a:solidFill>
              </a:rPr>
              <a:t>Pipeline analítico: dados, variáveis, modelo e solução operacional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865376" y="3026664"/>
            <a:ext cx="8138160" cy="0"/>
          </a:xfrm>
          <a:prstGeom prst="line">
            <a:avLst/>
          </a:prstGeom>
          <a:noFill/>
          <a:ln w="25400">
            <a:solidFill>
              <a:srgbClr val="00D1C1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7240" y="2514600"/>
            <a:ext cx="1005840" cy="1005840"/>
          </a:xfrm>
          <a:prstGeom prst="ellipse">
            <a:avLst/>
          </a:prstGeom>
          <a:solidFill>
            <a:srgbClr val="101A2F"/>
          </a:solidFill>
          <a:ln w="25400">
            <a:solidFill>
              <a:srgbClr val="00D1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776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Bases PEDE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4096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6C2D1"/>
                </a:solidFill>
              </a:rPr>
              <a:t>2022, 2023 e 2024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2514600"/>
            <a:ext cx="1005840" cy="1005840"/>
          </a:xfrm>
          <a:prstGeom prst="ellipse">
            <a:avLst/>
          </a:prstGeom>
          <a:solidFill>
            <a:srgbClr val="101A2F"/>
          </a:solidFill>
          <a:ln w="25400">
            <a:solidFill>
              <a:srgbClr val="00D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3776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Limpeza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4096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6C2D1"/>
                </a:solidFill>
              </a:rPr>
              <a:t>padronização de indicadores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57800" y="2514600"/>
            <a:ext cx="1005840" cy="1005840"/>
          </a:xfrm>
          <a:prstGeom prst="ellipse">
            <a:avLst/>
          </a:prstGeom>
          <a:solidFill>
            <a:srgbClr val="101A2F"/>
          </a:solidFill>
          <a:ln w="25400">
            <a:solidFill>
              <a:srgbClr val="00D1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776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Análise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4096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6C2D1"/>
                </a:solidFill>
              </a:rPr>
              <a:t>perguntas do Datathon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0" y="2514600"/>
            <a:ext cx="1005840" cy="1005840"/>
          </a:xfrm>
          <a:prstGeom prst="ellipse">
            <a:avLst/>
          </a:prstGeom>
          <a:solidFill>
            <a:srgbClr val="101A2F"/>
          </a:solidFill>
          <a:ln w="25400">
            <a:solidFill>
              <a:srgbClr val="00D1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3776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4096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6C2D1"/>
                </a:solidFill>
              </a:rPr>
              <a:t>risco de defasagem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738360" y="2514600"/>
            <a:ext cx="1005840" cy="1005840"/>
          </a:xfrm>
          <a:prstGeom prst="ellipse">
            <a:avLst/>
          </a:prstGeom>
          <a:solidFill>
            <a:srgbClr val="101A2F"/>
          </a:solidFill>
          <a:ln w="25400">
            <a:solidFill>
              <a:srgbClr val="00D1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8320" y="3776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40965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6C2D1"/>
                </a:solidFill>
              </a:rPr>
              <a:t>Streamlit + ranking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5349240"/>
            <a:ext cx="102870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Princípio crítico do modelo: IAN e DEFASAGEM não foram usados como entradas, pois fazem parte da regra do alvo e causariam vazamento de informação.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033"/>
                </a:solidFill>
              </a:rPr>
              <a:t>Sumário executivo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Três anos mostram expansão do programa e queda do risco de defasagem</a:t>
            </a:r>
            <a:endParaRPr lang="en-US" sz="1300" dirty="0"/>
          </a:p>
        </p:txBody>
      </p:sp>
      <p:pic>
        <p:nvPicPr>
          <p:cNvPr id="4" name="Image 0" descr="/mnt/data/chart_indica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636160"/>
            <a:ext cx="6263640" cy="34485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17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A7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1156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2033"/>
                </a:solidFill>
              </a:rPr>
              <a:t>Alunos acompanhados em 2024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2"/>
                </a:solidFill>
              </a:rPr>
              <a:t>+296 alunos vs. 2022</a:t>
            </a:r>
            <a:endParaRPr lang="en-US" sz="77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D1C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7.40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2033"/>
                </a:solidFill>
              </a:rPr>
              <a:t>INDE médio em 2024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2"/>
                </a:solidFill>
              </a:rPr>
              <a:t>patamar bom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731520" y="3977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3D1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46.2%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3152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42033"/>
                </a:solidFill>
              </a:rPr>
              <a:t>Risco de defasagem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4846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2"/>
                </a:solidFill>
              </a:rPr>
              <a:t>queda de 23.7 p.p.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704088" y="5376672"/>
            <a:ext cx="4160520" cy="0"/>
          </a:xfrm>
          <a:prstGeom prst="line">
            <a:avLst/>
          </a:prstGeom>
          <a:noFill/>
          <a:ln w="12700">
            <a:solidFill>
              <a:srgbClr val="D5E1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532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033"/>
                </a:solidFill>
              </a:rPr>
              <a:t>Leitura gerencial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5806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O risco caiu de 69,9% para 46,2%, enquanto o INDE médio avançou. Ainda assim, quase metade da base requer atenção preventiva.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33"/>
                </a:solidFill>
              </a:rPr>
              <a:t>1. Adequação do nível: o risco caiu, mas segue relevante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IAN médio aumenta e defasagem média diminui entre 2022 e 2024</a:t>
            </a:r>
            <a:endParaRPr lang="en-US" sz="1300" dirty="0"/>
          </a:p>
        </p:txBody>
      </p:sp>
      <p:pic>
        <p:nvPicPr>
          <p:cNvPr id="4" name="Image 0" descr="/mnt/data/chart_ri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69190"/>
            <a:ext cx="5303520" cy="29538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463040"/>
            <a:ext cx="5029200" cy="1018032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15636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O perfil de defasagem melhora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0" y="1856232"/>
            <a:ext cx="47091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defasagem média passou de -0,94 para -0,41, indicando aproximação gradual do nível esperado.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0" y="2590800"/>
            <a:ext cx="5029200" cy="1018032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69138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A queda não elimina o problema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0" y="2983992"/>
            <a:ext cx="47091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Em 2024, 46,2% ainda aparecem como risco pela regra de defasagem ou IAN baixo.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3718560"/>
            <a:ext cx="5029200" cy="1018032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381914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A decisão deve ser antecipatória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4111752"/>
            <a:ext cx="47091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O modelo apoia priorização antes de o problema virar reprovação, evasão ou perda de engajamento.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0" y="5074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1C1"/>
                </a:solidFill>
              </a:rPr>
              <a:t>Resposta à pergunta do case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53949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033"/>
                </a:solidFill>
              </a:rPr>
              <a:t>O programa apresenta evolução positiva no nível dos alunos, porém a defasagem ainda concentra risco operacional e deve ser monitorada mensalmente.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2–4. Desempenho, engajamento e autoavaliação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D1"/>
                </a:solidFill>
              </a:rPr>
              <a:t>Os indicadores não caminham sozinhos: engajamento e percepção precisam ser analisados junto ao IDA</a:t>
            </a:r>
            <a:endParaRPr lang="en-US" sz="1050" dirty="0"/>
          </a:p>
        </p:txBody>
      </p:sp>
      <p:pic>
        <p:nvPicPr>
          <p:cNvPr id="4" name="Image 0" descr="/mnt/data/chart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6410"/>
            <a:ext cx="4937760" cy="43395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Principais relações observadas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35040" y="1874520"/>
            <a:ext cx="52120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EAF2F9"/>
                </a:solidFill>
              </a:rPr>
              <a:t>IDA tem forte relação com INDE (correlação 0.79).
</a:t>
            </a:r>
            <a:pPr indent="0" marL="0">
              <a:buNone/>
            </a:pPr>
            <a:r>
              <a:rPr lang="en-US" sz="14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EAF2F9"/>
                </a:solidFill>
              </a:rPr>
              <a:t>IEG também se conecta fortemente ao INDE (0.74) e de forma moderada ao IDA (0.54).
</a:t>
            </a:r>
            <a:pPr indent="0" marL="0">
              <a:buNone/>
            </a:pPr>
            <a:r>
              <a:rPr lang="en-US" sz="14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EAF2F9"/>
                </a:solidFill>
              </a:rPr>
              <a:t>IAA tem relação mais baixa com IDA, sugerindo que percepção do aluno nem sempre acompanha desempenho real.
</a:t>
            </a:r>
            <a:pPr indent="0" marL="0">
              <a:buNone/>
            </a:pPr>
            <a:r>
              <a:rPr lang="en-US" sz="1400" b="1" dirty="0">
                <a:solidFill>
                  <a:srgbClr val="00D1C1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EAF2F9"/>
                </a:solidFill>
              </a:rPr>
              <a:t>IPS isolado tem baixa correlação linear, mas é relevante para triagem humana e acompanhamento psicossocial.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80760" y="4709160"/>
            <a:ext cx="5074920" cy="868680"/>
          </a:xfrm>
          <a:prstGeom prst="rect">
            <a:avLst/>
          </a:prstGeom>
          <a:solidFill>
            <a:srgbClr val="122B46"/>
          </a:solidFill>
          <a:ln w="12700">
            <a:solidFill>
              <a:srgbClr val="122B4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487375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1C1"/>
                </a:solidFill>
              </a:rPr>
              <a:t>Implicação para gestão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3640" y="513892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Ações de reforço devem combinar desempenho acadêmico, engajamento e sinais comportamentais, evitando intervenções baseadas em uma única nota.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033"/>
                </a:solidFill>
              </a:rPr>
              <a:t>5–8. A visão multidimensional explica melhor o aluno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Combinações de indicadores elevam o INDE mais do que leituras isoladas</a:t>
            </a:r>
            <a:endParaRPr lang="en-US" sz="1300" dirty="0"/>
          </a:p>
        </p:txBody>
      </p:sp>
      <p:pic>
        <p:nvPicPr>
          <p:cNvPr id="4" name="Image 0" descr="/mnt/data/chart_pedra2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0545"/>
            <a:ext cx="5029200" cy="27968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325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33"/>
                </a:solidFill>
              </a:rPr>
              <a:t>Indicadores mais associados ao INDE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172200" y="1828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IDA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60920" y="1865376"/>
            <a:ext cx="2548204" cy="146304"/>
          </a:xfrm>
          <a:prstGeom prst="rect">
            <a:avLst/>
          </a:prstGeom>
          <a:solidFill>
            <a:srgbClr val="00D1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35640" y="18288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0.79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24048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IEG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60920" y="2441448"/>
            <a:ext cx="2418359" cy="146304"/>
          </a:xfrm>
          <a:prstGeom prst="rect">
            <a:avLst/>
          </a:prstGeom>
          <a:solidFill>
            <a:srgbClr val="00D1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835640" y="2404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0.74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72200" y="29809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IPV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60920" y="3017520"/>
            <a:ext cx="2340453" cy="146304"/>
          </a:xfrm>
          <a:prstGeom prst="rect">
            <a:avLst/>
          </a:prstGeom>
          <a:solidFill>
            <a:srgbClr val="00D1C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835640" y="29809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0.72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35570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IPP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60920" y="3593592"/>
            <a:ext cx="1752905" cy="146304"/>
          </a:xfrm>
          <a:prstGeom prst="rect">
            <a:avLst/>
          </a:prstGeom>
          <a:solidFill>
            <a:srgbClr val="B3C0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835640" y="35570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0.54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72200" y="41330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IAN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4169664"/>
            <a:ext cx="1314679" cy="146304"/>
          </a:xfrm>
          <a:prstGeom prst="rect">
            <a:avLst/>
          </a:prstGeom>
          <a:solidFill>
            <a:srgbClr val="B3C0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835640" y="4133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0.41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72200" y="498348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1C1"/>
                </a:solidFill>
              </a:rPr>
              <a:t>Síntese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72200" y="528523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</a:rPr>
              <a:t>O INDE é explicado principalmente por desempenho, engajamento e ponto de virada. O acompanhamento pedagógico precisa usar esses sinais de forma integrada.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Modelo preditivo de risco de defasagem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D1"/>
                </a:solidFill>
              </a:rPr>
              <a:t>Objetivo: priorizar alunos com maior probabilidade de entrar ou permanecer em risco</a:t>
            </a:r>
            <a:endParaRPr lang="en-US" sz="1050" dirty="0"/>
          </a:p>
        </p:txBody>
      </p:sp>
      <p:pic>
        <p:nvPicPr>
          <p:cNvPr id="4" name="Image 0" descr="/mnt/data/chart_model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15415"/>
            <a:ext cx="4983480" cy="2775609"/>
          </a:xfrm>
          <a:prstGeom prst="rect">
            <a:avLst/>
          </a:prstGeom>
        </p:spPr>
      </p:pic>
      <p:pic>
        <p:nvPicPr>
          <p:cNvPr id="5" name="Image 1" descr="/mnt/data/chart_importa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89951"/>
            <a:ext cx="5074920" cy="28265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4919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1C1"/>
                </a:solidFill>
              </a:rPr>
              <a:t>Melhor modelo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31520" y="5239512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Random Forest • ROC-AUC 0.634 • F1 0.685 • Recall 0.723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57150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D1"/>
                </a:solidFill>
              </a:rPr>
              <a:t>Uso recomendado: triagem e priorização, não decisão automática. O ranking de risco deve ser analisado pela equipe pedagógica antes de qualquer ação individual.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033"/>
                </a:solidFill>
              </a:rPr>
              <a:t>Da análise para a operação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8778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</a:rPr>
              <a:t>Como a Passos Mágicos pode usar o resultado no ciclo de acompanhamento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5880" y="2743200"/>
            <a:ext cx="9418320" cy="0"/>
          </a:xfrm>
          <a:prstGeom prst="line">
            <a:avLst/>
          </a:prstGeom>
          <a:noFill/>
          <a:ln w="25400">
            <a:solidFill>
              <a:srgbClr val="00D1C1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4360" y="2130552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359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Dados mensais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6974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atualizar indicadores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898648" y="2130552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2359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Score de risco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08376" y="26974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modelo calcula probabilidade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202936" y="2130552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12664" y="2359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Ranking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12664" y="26974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priorização da equipe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7507224" y="2130552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16952" y="2359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Intervenção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16952" y="26974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reforço, psicopedagógico, família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811512" y="2130552"/>
            <a:ext cx="16002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5E1EF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921240" y="235915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Revisão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21240" y="26974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B6472"/>
                </a:solidFill>
              </a:rPr>
              <a:t>medir evolução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77240" y="4233672"/>
            <a:ext cx="106527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334256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Produto entregue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626864"/>
            <a:ext cx="1033272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Notebook com limpeza, análise, feature engineering, treino/teste, métricas e ranking.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828032"/>
            <a:ext cx="106527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928616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App Streamlit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5221224"/>
            <a:ext cx="1033272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Interface para informar indicadores do aluno e retornar probabilidade de risco.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5422392"/>
            <a:ext cx="10652760" cy="484632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5522976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</a:rPr>
              <a:t>Governança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5815584"/>
            <a:ext cx="1033272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Atualizar dados, revisar métricas e validar decisões com equipe pedagógica.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Recomendações executivas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6C2D1"/>
                </a:solidFill>
              </a:rPr>
              <a:t>Plano de ação para transformar o modelo em impacto educacional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52728"/>
            <a:ext cx="438912" cy="438912"/>
          </a:xfrm>
          <a:prstGeom prst="ellipse">
            <a:avLst/>
          </a:prstGeom>
          <a:solidFill>
            <a:srgbClr val="00D1C1"/>
          </a:solidFill>
          <a:ln w="12700">
            <a:solidFill>
              <a:srgbClr val="00D1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3502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252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Priorizar risco alto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280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D1"/>
                </a:solidFill>
              </a:rPr>
              <a:t>Acompanhar semanalmente alunos no topo do ranking de probabilidade.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38912" cy="438912"/>
          </a:xfrm>
          <a:prstGeom prst="ellipse">
            <a:avLst/>
          </a:prstGeom>
          <a:solidFill>
            <a:srgbClr val="00D1C1"/>
          </a:solidFill>
          <a:ln w="12700">
            <a:solidFill>
              <a:srgbClr val="00D1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854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103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Intervir por causa provável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21305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D1"/>
                </a:solidFill>
              </a:rPr>
              <a:t>Separar risco por baixo IDA, baixo IEG, baixo IPV ou sinais psicossociais.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438912" cy="438912"/>
          </a:xfrm>
          <a:prstGeom prst="ellipse">
            <a:avLst/>
          </a:prstGeom>
          <a:solidFill>
            <a:srgbClr val="00D1C1"/>
          </a:solidFill>
          <a:ln w="12700">
            <a:solidFill>
              <a:srgbClr val="00D1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358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9535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Criar trilha de recuperação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43400" y="29809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D1"/>
                </a:solidFill>
              </a:rPr>
              <a:t>Reforço acadêmico, tutoria e acompanhamento psicopedagógico combinados.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803904"/>
            <a:ext cx="438912" cy="438912"/>
          </a:xfrm>
          <a:prstGeom prst="ellipse">
            <a:avLst/>
          </a:prstGeom>
          <a:solidFill>
            <a:srgbClr val="00D1C1"/>
          </a:solidFill>
          <a:ln w="12700">
            <a:solidFill>
              <a:srgbClr val="00D1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862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38039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Monitorar indicadores líderes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8313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D1"/>
                </a:solidFill>
              </a:rPr>
              <a:t>Usar IEG e IPV como sinais antecipatórios antes de queda no IDA.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4654296"/>
            <a:ext cx="438912" cy="438912"/>
          </a:xfrm>
          <a:prstGeom prst="ellipse">
            <a:avLst/>
          </a:prstGeom>
          <a:solidFill>
            <a:srgbClr val="00D1C1"/>
          </a:solidFill>
          <a:ln w="12700">
            <a:solidFill>
              <a:srgbClr val="00D1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73659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4654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Recalibrar o modelo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43400" y="4681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6C2D1"/>
                </a:solidFill>
              </a:rPr>
              <a:t>Revisar a cada ciclo com novos dados e feedback da equipe.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5833872"/>
            <a:ext cx="10607040" cy="18288"/>
          </a:xfrm>
          <a:prstGeom prst="rect">
            <a:avLst/>
          </a:prstGeom>
          <a:solidFill>
            <a:srgbClr val="29405E"/>
          </a:solidFill>
          <a:ln w="12700">
            <a:solidFill>
              <a:srgbClr val="2940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989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1C1"/>
                </a:solidFill>
              </a:rPr>
              <a:t>Fechamento para o vídeo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59436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“A Passos Mágicos já mostra evolução. O próximo salto é transformar os dados em alerta antecipado, priorizando quem mais precisa antes que a defasagem avance.”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Bases PEDE 2022–2024 + enunciado Datathon FIAP/Passos Mágicos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0B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FIAP PósTech Data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Passos Mágicos — Apresentação Gerencial</dc:title>
  <dc:subject>Tech Challenge Passos Mágicos</dc:subject>
  <dc:creator>OpenAI</dc:creator>
  <cp:lastModifiedBy>OpenAI</cp:lastModifiedBy>
  <cp:revision>1</cp:revision>
  <dcterms:created xsi:type="dcterms:W3CDTF">2026-04-28T13:18:30Z</dcterms:created>
  <dcterms:modified xsi:type="dcterms:W3CDTF">2026-04-28T13:18:30Z</dcterms:modified>
</cp:coreProperties>
</file>